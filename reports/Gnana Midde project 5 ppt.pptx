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Open Sans 1 Bold" charset="1" panose="00000000000000000000"/>
      <p:regular r:id="rId17"/>
    </p:embeddedFont>
    <p:embeddedFont>
      <p:font typeface="Open Sans 2 Bold" charset="1" panose="020B0806030504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05062" y="1827195"/>
            <a:ext cx="12149344" cy="6615693"/>
            <a:chOff x="0" y="0"/>
            <a:chExt cx="16199125" cy="882092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494267"/>
              <a:ext cx="16199125" cy="4165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301"/>
                </a:lnSpc>
              </a:pPr>
              <a:r>
                <a:rPr lang="en-US" b="true" sz="6536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BRAINLM: A FOUNDATION MODEL FOR BRAIN ACTIVITY RECORDINGS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712293" y="-57150"/>
              <a:ext cx="12774539" cy="5965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810"/>
                </a:lnSpc>
                <a:spcBef>
                  <a:spcPct val="0"/>
                </a:spcBef>
              </a:pPr>
              <a:r>
                <a:rPr lang="en-US" b="true" sz="272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Ortega Caro et al. 2023</a:t>
              </a:r>
            </a:p>
          </p:txBody>
        </p:sp>
        <p:sp>
          <p:nvSpPr>
            <p:cNvPr name="AutoShape 5" id="5"/>
            <p:cNvSpPr/>
            <p:nvPr/>
          </p:nvSpPr>
          <p:spPr>
            <a:xfrm rot="0">
              <a:off x="233344" y="973175"/>
              <a:ext cx="15732436" cy="140123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name="AutoShape 6" id="6"/>
            <p:cNvSpPr/>
            <p:nvPr/>
          </p:nvSpPr>
          <p:spPr>
            <a:xfrm rot="0">
              <a:off x="233344" y="6420193"/>
              <a:ext cx="15732436" cy="140123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712293" y="7254347"/>
              <a:ext cx="12774539" cy="4414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09"/>
                </a:lnSpc>
                <a:spcBef>
                  <a:spcPct val="0"/>
                </a:spcBef>
              </a:pPr>
              <a:r>
                <a:rPr lang="en-US" b="true" sz="2078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Published as a conference paper at ICLR 2024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712293" y="8379506"/>
              <a:ext cx="12774539" cy="4414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09"/>
                </a:lnSpc>
                <a:spcBef>
                  <a:spcPct val="0"/>
                </a:spcBef>
              </a:pPr>
              <a:r>
                <a:rPr lang="en-US" b="true" sz="2078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paper review by Gnana Midde gam54@njit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77868" y="2824047"/>
            <a:ext cx="2657633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Subject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15861" y="3998162"/>
            <a:ext cx="2657633" cy="35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0"/>
              </a:lnSpc>
              <a:spcBef>
                <a:spcPct val="0"/>
              </a:spcBef>
            </a:pPr>
            <a:r>
              <a:rPr lang="en-US" b="true" sz="206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 random variable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15861" y="5447145"/>
            <a:ext cx="2657633" cy="750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0"/>
              </a:lnSpc>
              <a:spcBef>
                <a:spcPct val="0"/>
              </a:spcBef>
            </a:pPr>
            <a:r>
              <a:rPr lang="en-US" b="true" sz="206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find the distribution of X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15184" y="2824047"/>
            <a:ext cx="212689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Group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84442" y="3998162"/>
            <a:ext cx="3016664" cy="750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0"/>
              </a:lnSpc>
              <a:spcBef>
                <a:spcPct val="0"/>
              </a:spcBef>
            </a:pPr>
            <a:r>
              <a:rPr lang="en-US" b="true" sz="206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Data sampled from the same distribution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84442" y="5447145"/>
            <a:ext cx="2657633" cy="750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0"/>
              </a:lnSpc>
              <a:spcBef>
                <a:spcPct val="0"/>
              </a:spcBef>
            </a:pPr>
            <a:r>
              <a:rPr lang="en-US" b="true" sz="206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find the distribution of X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650861" y="2824047"/>
            <a:ext cx="2657633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Population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91525" y="3907599"/>
            <a:ext cx="3828387" cy="750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0"/>
              </a:lnSpc>
              <a:spcBef>
                <a:spcPct val="0"/>
              </a:spcBef>
            </a:pPr>
            <a:r>
              <a:rPr lang="en-US" b="true" sz="206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Data sampled from multiple different distributions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96887" y="1038225"/>
            <a:ext cx="14094227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9"/>
              </a:lnSpc>
              <a:spcBef>
                <a:spcPct val="0"/>
              </a:spcBef>
            </a:pPr>
            <a:r>
              <a:rPr lang="en-US" b="true" sz="48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Subject vs Group vs Population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91525" y="5428095"/>
            <a:ext cx="3338176" cy="796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0"/>
              </a:lnSpc>
              <a:spcBef>
                <a:spcPct val="0"/>
              </a:spcBef>
            </a:pPr>
            <a:r>
              <a:rPr lang="en-US" b="true" sz="214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find the joint distribution of X, Y, Z ....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91525" y="7030236"/>
            <a:ext cx="2899588" cy="750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0"/>
              </a:lnSpc>
              <a:spcBef>
                <a:spcPct val="0"/>
              </a:spcBef>
            </a:pPr>
            <a:r>
              <a:rPr lang="en-US" b="true" sz="206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generalizability to unseen distributions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84442" y="7030236"/>
            <a:ext cx="3235205" cy="114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0"/>
              </a:lnSpc>
              <a:spcBef>
                <a:spcPct val="0"/>
              </a:spcBef>
            </a:pPr>
            <a:r>
              <a:rPr lang="en-US" b="true" sz="206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analysis only of random variables sampled from the same distribution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15861" y="7030236"/>
            <a:ext cx="2657633" cy="750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0"/>
              </a:lnSpc>
              <a:spcBef>
                <a:spcPct val="0"/>
              </a:spcBef>
            </a:pPr>
            <a:r>
              <a:rPr lang="en-US" b="true" sz="206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inference only that individual data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16616" y="1792854"/>
            <a:ext cx="8792923" cy="1252992"/>
          </a:xfrm>
          <a:custGeom>
            <a:avLst/>
            <a:gdLst/>
            <a:ahLst/>
            <a:cxnLst/>
            <a:rect r="r" b="b" t="t" l="l"/>
            <a:pathLst>
              <a:path h="1252992" w="8792923">
                <a:moveTo>
                  <a:pt x="0" y="0"/>
                </a:moveTo>
                <a:lnTo>
                  <a:pt x="8792923" y="0"/>
                </a:lnTo>
                <a:lnTo>
                  <a:pt x="8792923" y="1252992"/>
                </a:lnTo>
                <a:lnTo>
                  <a:pt x="0" y="12529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88201" y="4816893"/>
            <a:ext cx="6233554" cy="4441407"/>
          </a:xfrm>
          <a:custGeom>
            <a:avLst/>
            <a:gdLst/>
            <a:ahLst/>
            <a:cxnLst/>
            <a:rect r="r" b="b" t="t" l="l"/>
            <a:pathLst>
              <a:path h="4441407" w="6233554">
                <a:moveTo>
                  <a:pt x="0" y="0"/>
                </a:moveTo>
                <a:lnTo>
                  <a:pt x="6233554" y="0"/>
                </a:lnTo>
                <a:lnTo>
                  <a:pt x="6233554" y="4441407"/>
                </a:lnTo>
                <a:lnTo>
                  <a:pt x="0" y="44414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19806" y="4637824"/>
            <a:ext cx="5270895" cy="4393642"/>
          </a:xfrm>
          <a:custGeom>
            <a:avLst/>
            <a:gdLst/>
            <a:ahLst/>
            <a:cxnLst/>
            <a:rect r="r" b="b" t="t" l="l"/>
            <a:pathLst>
              <a:path h="4393642" w="5270895">
                <a:moveTo>
                  <a:pt x="0" y="0"/>
                </a:moveTo>
                <a:lnTo>
                  <a:pt x="5270896" y="0"/>
                </a:lnTo>
                <a:lnTo>
                  <a:pt x="5270896" y="4393641"/>
                </a:lnTo>
                <a:lnTo>
                  <a:pt x="0" y="43936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26146" y="1028700"/>
            <a:ext cx="5270895" cy="278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90"/>
              </a:lnSpc>
              <a:spcBef>
                <a:spcPct val="0"/>
              </a:spcBef>
            </a:pPr>
            <a:r>
              <a:rPr lang="en-US" b="true" sz="4575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Machine Learning is the Study of Group/Population Level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716203" y="3952024"/>
            <a:ext cx="6049085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30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Generalization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74411" y="9070916"/>
            <a:ext cx="5065643" cy="58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4"/>
              </a:lnSpc>
            </a:pPr>
            <a:r>
              <a:rPr lang="en-US" sz="2512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Overfitting and noise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32397" y="957252"/>
            <a:ext cx="6761361" cy="550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0"/>
              </a:lnSpc>
            </a:pPr>
            <a:r>
              <a:rPr lang="en-US" sz="2425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Data Distribution: Hoeffding Inequality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7947" y="1521179"/>
            <a:ext cx="17194696" cy="7737121"/>
          </a:xfrm>
          <a:custGeom>
            <a:avLst/>
            <a:gdLst/>
            <a:ahLst/>
            <a:cxnLst/>
            <a:rect r="r" b="b" t="t" l="l"/>
            <a:pathLst>
              <a:path h="7737121" w="17194696">
                <a:moveTo>
                  <a:pt x="0" y="0"/>
                </a:moveTo>
                <a:lnTo>
                  <a:pt x="17194696" y="0"/>
                </a:lnTo>
                <a:lnTo>
                  <a:pt x="17194696" y="7737121"/>
                </a:lnTo>
                <a:lnTo>
                  <a:pt x="0" y="7737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8" t="0" r="-98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26268" y="395918"/>
            <a:ext cx="16506376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40"/>
              </a:lnSpc>
            </a:pPr>
            <a:r>
              <a:rPr lang="en-US" b="true" sz="540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Foundation Model for Population level analysis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15428" y="1887444"/>
            <a:ext cx="2657633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UK Biobank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66100" y="3011055"/>
            <a:ext cx="3750337" cy="35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0"/>
              </a:lnSpc>
              <a:spcBef>
                <a:spcPct val="0"/>
              </a:spcBef>
            </a:pPr>
            <a:r>
              <a:rPr lang="en-US" b="true" sz="206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76,296 rs-fmri and t-fmri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66100" y="4046970"/>
            <a:ext cx="3750337" cy="750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0"/>
              </a:lnSpc>
              <a:spcBef>
                <a:spcPct val="0"/>
              </a:spcBef>
            </a:pPr>
            <a:r>
              <a:rPr lang="en-US" b="true" sz="206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accompanied medical records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955674" y="1887444"/>
            <a:ext cx="212689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HCP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05143" y="3011055"/>
            <a:ext cx="4000098" cy="750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0"/>
              </a:lnSpc>
              <a:spcBef>
                <a:spcPct val="0"/>
              </a:spcBef>
            </a:pPr>
            <a:r>
              <a:rPr lang="en-US" b="true" sz="206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1,002 high quality fmri recordings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03740" y="4393335"/>
            <a:ext cx="4000098" cy="750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0"/>
              </a:lnSpc>
              <a:spcBef>
                <a:spcPct val="0"/>
              </a:spcBef>
            </a:pPr>
            <a:r>
              <a:rPr lang="en-US" b="true" sz="206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healthy adults scanned at 0.72s resolution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6160" y="1887444"/>
            <a:ext cx="2657633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Preprocessing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39311" y="3011055"/>
            <a:ext cx="5373783" cy="750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0"/>
              </a:lnSpc>
              <a:spcBef>
                <a:spcPct val="0"/>
              </a:spcBef>
            </a:pPr>
            <a:r>
              <a:rPr lang="en-US" b="true" sz="206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motion correction, normalization, temporal filtering and ICA denoising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96887" y="666750"/>
            <a:ext cx="14094227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9"/>
              </a:lnSpc>
              <a:spcBef>
                <a:spcPct val="0"/>
              </a:spcBef>
            </a:pPr>
            <a:r>
              <a:rPr lang="en-US" b="true" sz="48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Datasets and Preprocessing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39311" y="4208895"/>
            <a:ext cx="5373783" cy="1202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0"/>
              </a:lnSpc>
              <a:spcBef>
                <a:spcPct val="0"/>
              </a:spcBef>
            </a:pPr>
            <a:r>
              <a:rPr lang="en-US" b="true" sz="214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parcellated the brain into 424 regions using the AAL-424 atlas to extract parcel-wise time series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39311" y="5877711"/>
            <a:ext cx="5139632" cy="750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0"/>
              </a:lnSpc>
              <a:spcBef>
                <a:spcPct val="0"/>
              </a:spcBef>
            </a:pPr>
            <a:r>
              <a:rPr lang="en-US" b="true" sz="206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424 dimensional scan sequences samples at ~1Hz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66100" y="5473410"/>
            <a:ext cx="4000098" cy="750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0"/>
              </a:lnSpc>
              <a:spcBef>
                <a:spcPct val="0"/>
              </a:spcBef>
            </a:pPr>
            <a:r>
              <a:rPr lang="en-US" b="true" sz="206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Siemens 3T scanner  at 0.735s temporal resolution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66100" y="6899850"/>
            <a:ext cx="4000098" cy="750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0"/>
              </a:lnSpc>
              <a:spcBef>
                <a:spcPct val="0"/>
              </a:spcBef>
            </a:pPr>
            <a:r>
              <a:rPr lang="en-US" b="true" sz="206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Demographic spanning ages 40 to 69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39311" y="7094602"/>
            <a:ext cx="5139632" cy="153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0"/>
              </a:lnSpc>
              <a:spcBef>
                <a:spcPct val="0"/>
              </a:spcBef>
            </a:pPr>
            <a:r>
              <a:rPr lang="en-US" b="true" sz="206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robust scaling was applied by subtracting the median and dividing by the interquartile range computed across subjects for each parcel.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48682" y="1517291"/>
            <a:ext cx="12590635" cy="7944634"/>
          </a:xfrm>
          <a:custGeom>
            <a:avLst/>
            <a:gdLst/>
            <a:ahLst/>
            <a:cxnLst/>
            <a:rect r="r" b="b" t="t" l="l"/>
            <a:pathLst>
              <a:path h="7944634" w="12590635">
                <a:moveTo>
                  <a:pt x="0" y="0"/>
                </a:moveTo>
                <a:lnTo>
                  <a:pt x="12590636" y="0"/>
                </a:lnTo>
                <a:lnTo>
                  <a:pt x="12590636" y="7944634"/>
                </a:lnTo>
                <a:lnTo>
                  <a:pt x="0" y="79446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6" t="0" r="-376" b="-59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81624" y="442748"/>
            <a:ext cx="16506376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40"/>
              </a:lnSpc>
            </a:pPr>
            <a:r>
              <a:rPr lang="en-US" b="true" sz="540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Model Architecture and Training Procedure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2924" y="442748"/>
            <a:ext cx="16506376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40"/>
              </a:lnSpc>
            </a:pPr>
            <a:r>
              <a:rPr lang="en-US" b="true" sz="540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                 Clinical Variable Prediction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99569" y="1949694"/>
            <a:ext cx="1246713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Augmented the pre-trained encoder with a 3-layer MLP head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99569" y="3054594"/>
            <a:ext cx="1401253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Trained to regress targets such as age, neuroticism, PTSD, and anxiety disorder scores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99569" y="5264394"/>
            <a:ext cx="14558882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Neuroticism scores were through adjusted through min-max scaling, aligning the distribution in [0,1]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99569" y="6865649"/>
            <a:ext cx="13731548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For both Post Traumatic Stress Disorder (PCL-5) and General Anxiety Disorder (GAD-7) scores, they first applied a log transformation to moderate their exponential distribution, followed by a min-max scaling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99569" y="4159494"/>
            <a:ext cx="1401253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Z-normalization scores for age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9264" y="1720468"/>
            <a:ext cx="9180125" cy="7412951"/>
          </a:xfrm>
          <a:custGeom>
            <a:avLst/>
            <a:gdLst/>
            <a:ahLst/>
            <a:cxnLst/>
            <a:rect r="r" b="b" t="t" l="l"/>
            <a:pathLst>
              <a:path h="7412951" w="9180125">
                <a:moveTo>
                  <a:pt x="0" y="0"/>
                </a:moveTo>
                <a:lnTo>
                  <a:pt x="9180126" y="0"/>
                </a:lnTo>
                <a:lnTo>
                  <a:pt x="9180126" y="7412952"/>
                </a:lnTo>
                <a:lnTo>
                  <a:pt x="0" y="74129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2924" y="442748"/>
            <a:ext cx="16506376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40"/>
              </a:lnSpc>
            </a:pPr>
            <a:r>
              <a:rPr lang="en-US" b="true" sz="540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                      Model Generalization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33151" y="2324426"/>
            <a:ext cx="7206543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R-squared score of 0.464 indicating strong generalization on unseen recordings from the  same distribution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33151" y="4172276"/>
            <a:ext cx="7206543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Generalized well to HCP dataset, despite differences in cohort and acquisition details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33151" y="5648651"/>
            <a:ext cx="7206543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BrainLM could effectively model brain dynamics in this entirely new distribution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33151" y="7121586"/>
            <a:ext cx="7206543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Model generalization scales with data size and model size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8782" y="3623313"/>
            <a:ext cx="4102420" cy="213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19"/>
              </a:lnSpc>
              <a:spcBef>
                <a:spcPct val="0"/>
              </a:spcBef>
            </a:pPr>
            <a:r>
              <a:rPr lang="en-US" b="true" sz="4085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Interpretability via Attention Analysis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801202" y="1410183"/>
            <a:ext cx="12212066" cy="7466635"/>
            <a:chOff x="0" y="0"/>
            <a:chExt cx="1329376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29376" cy="812800"/>
            </a:xfrm>
            <a:custGeom>
              <a:avLst/>
              <a:gdLst/>
              <a:ahLst/>
              <a:cxnLst/>
              <a:rect r="r" b="b" t="t" l="l"/>
              <a:pathLst>
                <a:path h="812800" w="1329376">
                  <a:moveTo>
                    <a:pt x="0" y="0"/>
                  </a:moveTo>
                  <a:lnTo>
                    <a:pt x="1329376" y="0"/>
                  </a:lnTo>
                  <a:lnTo>
                    <a:pt x="1329376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1057" t="0" r="-1057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2924" y="442748"/>
            <a:ext cx="16506376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40"/>
              </a:lnSpc>
            </a:pPr>
            <a:r>
              <a:rPr lang="en-US" b="true" sz="540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                                  Discussion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99569" y="1949694"/>
            <a:ext cx="1401253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This work presents BrainLM, the first foundation model for functional MRI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99569" y="3054594"/>
            <a:ext cx="1401253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leverages self-supervised pretraining on 6,700 hours of brain activity recordings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99569" y="5264394"/>
            <a:ext cx="1455888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BrainLM also provides a powerful framework for biomarker discovery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99569" y="6369294"/>
            <a:ext cx="13731548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By fine-tuning, brain dynamics can be decoded to predict clinical variables and psychiatric disorders better than baseline models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99569" y="4159494"/>
            <a:ext cx="1401253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BrainLM demonstrates versatile capabilities for modeling, predicting, and interpreting human brain dynamics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99569" y="7845669"/>
            <a:ext cx="13731548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Future work: multi-modal training could integrate fMRI with additional recording modalities, such as EEG and MEG, or different brain-wise information such as structural, functional, and genomic data.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4588430"/>
            <a:ext cx="11301259" cy="4139086"/>
          </a:xfrm>
          <a:custGeom>
            <a:avLst/>
            <a:gdLst/>
            <a:ahLst/>
            <a:cxnLst/>
            <a:rect r="r" b="b" t="t" l="l"/>
            <a:pathLst>
              <a:path h="4139086" w="11301259">
                <a:moveTo>
                  <a:pt x="0" y="0"/>
                </a:moveTo>
                <a:lnTo>
                  <a:pt x="11301258" y="0"/>
                </a:lnTo>
                <a:lnTo>
                  <a:pt x="11301258" y="4139086"/>
                </a:lnTo>
                <a:lnTo>
                  <a:pt x="0" y="41390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2924" y="1076325"/>
            <a:ext cx="16506376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40"/>
              </a:lnSpc>
            </a:pPr>
            <a:r>
              <a:rPr lang="en-US" b="true" sz="540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                                 Limitations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37735" y="2357549"/>
            <a:ext cx="14012530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Although existing brain foundation models (Ortega Caro et al. 2023; Dong et al. 2024) take the raw signal as input, the vast majority of related works (Cui et al. 2022; Said et al. 2023; Ding et al. 2024; Wei et al. 2024) suggest that brain connectomes as the input makes more accurate predictions for clinical applications.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DAG7PwWB-9M</dc:identifier>
  <dcterms:modified xsi:type="dcterms:W3CDTF">2011-08-01T06:04:30Z</dcterms:modified>
  <cp:revision>1</cp:revision>
  <dc:title>BRAINLM: A FOUNDATION MODEL FOR BRAIN ACTIVITY RECORDINGS</dc:title>
</cp:coreProperties>
</file>